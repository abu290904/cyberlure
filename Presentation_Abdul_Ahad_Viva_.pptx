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23" r:id="rId1"/>
  </p:sldMasterIdLst>
  <p:notesMasterIdLst>
    <p:notesMasterId r:id="rId10"/>
  </p:notesMasterIdLst>
  <p:sldIdLst>
    <p:sldId id="256" r:id="rId2"/>
    <p:sldId id="257" r:id="rId3"/>
    <p:sldId id="264" r:id="rId4"/>
    <p:sldId id="266" r:id="rId5"/>
    <p:sldId id="267" r:id="rId6"/>
    <p:sldId id="258" r:id="rId7"/>
    <p:sldId id="263" r:id="rId8"/>
    <p:sldId id="262" r:id="rId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A71D9E-B20D-BF54-9D3D-4E14A7387D75}" v="87" dt="2026-02-02T09:35:43.5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7"/>
    <p:restoredTop sz="94595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9FA71D9E-B20D-BF54-9D3D-4E14A7387D75}"/>
    <pc:docChg chg="modSld">
      <pc:chgData name="" userId="" providerId="" clId="Web-{9FA71D9E-B20D-BF54-9D3D-4E14A7387D75}" dt="2026-02-02T09:34:02.253" v="2" actId="20577"/>
      <pc:docMkLst>
        <pc:docMk/>
      </pc:docMkLst>
      <pc:sldChg chg="modSp">
        <pc:chgData name="" userId="" providerId="" clId="Web-{9FA71D9E-B20D-BF54-9D3D-4E14A7387D75}" dt="2026-02-02T09:34:02.253" v="2" actId="20577"/>
        <pc:sldMkLst>
          <pc:docMk/>
          <pc:sldMk cId="398627859" sldId="256"/>
        </pc:sldMkLst>
        <pc:spChg chg="mod">
          <ac:chgData name="" userId="" providerId="" clId="Web-{9FA71D9E-B20D-BF54-9D3D-4E14A7387D75}" dt="2026-02-02T09:34:02.253" v="2" actId="20577"/>
          <ac:spMkLst>
            <pc:docMk/>
            <pc:sldMk cId="398627859" sldId="256"/>
            <ac:spMk id="2" creationId="{00000000-0000-0000-0000-000000000000}"/>
          </ac:spMkLst>
        </pc:spChg>
      </pc:sldChg>
    </pc:docChg>
  </pc:docChgLst>
  <pc:docChgLst>
    <pc:chgData name="Fadi Safieddine" userId="S::fadi@uel.ac.uk::3c2eb6a4-db37-4d9f-9a07-5368a2a49ca2" providerId="AD" clId="Web-{9FA71D9E-B20D-BF54-9D3D-4E14A7387D75}"/>
    <pc:docChg chg="delSld modSld">
      <pc:chgData name="Fadi Safieddine" userId="S::fadi@uel.ac.uk::3c2eb6a4-db37-4d9f-9a07-5368a2a49ca2" providerId="AD" clId="Web-{9FA71D9E-B20D-BF54-9D3D-4E14A7387D75}" dt="2026-02-02T09:35:43.587" v="81" actId="20577"/>
      <pc:docMkLst>
        <pc:docMk/>
      </pc:docMkLst>
      <pc:sldChg chg="modSp">
        <pc:chgData name="Fadi Safieddine" userId="S::fadi@uel.ac.uk::3c2eb6a4-db37-4d9f-9a07-5368a2a49ca2" providerId="AD" clId="Web-{9FA71D9E-B20D-BF54-9D3D-4E14A7387D75}" dt="2026-02-02T09:34:09.176" v="0" actId="20577"/>
        <pc:sldMkLst>
          <pc:docMk/>
          <pc:sldMk cId="398627859" sldId="256"/>
        </pc:sldMkLst>
        <pc:spChg chg="mod">
          <ac:chgData name="Fadi Safieddine" userId="S::fadi@uel.ac.uk::3c2eb6a4-db37-4d9f-9a07-5368a2a49ca2" providerId="AD" clId="Web-{9FA71D9E-B20D-BF54-9D3D-4E14A7387D75}" dt="2026-02-02T09:34:09.176" v="0" actId="20577"/>
          <ac:spMkLst>
            <pc:docMk/>
            <pc:sldMk cId="398627859" sldId="256"/>
            <ac:spMk id="2" creationId="{00000000-0000-0000-0000-000000000000}"/>
          </ac:spMkLst>
        </pc:spChg>
      </pc:sldChg>
      <pc:sldChg chg="modSp">
        <pc:chgData name="Fadi Safieddine" userId="S::fadi@uel.ac.uk::3c2eb6a4-db37-4d9f-9a07-5368a2a49ca2" providerId="AD" clId="Web-{9FA71D9E-B20D-BF54-9D3D-4E14A7387D75}" dt="2026-02-02T09:34:41.334" v="18" actId="20577"/>
        <pc:sldMkLst>
          <pc:docMk/>
          <pc:sldMk cId="86913845" sldId="258"/>
        </pc:sldMkLst>
        <pc:spChg chg="mod">
          <ac:chgData name="Fadi Safieddine" userId="S::fadi@uel.ac.uk::3c2eb6a4-db37-4d9f-9a07-5368a2a49ca2" providerId="AD" clId="Web-{9FA71D9E-B20D-BF54-9D3D-4E14A7387D75}" dt="2026-02-02T09:34:41.334" v="18" actId="20577"/>
          <ac:spMkLst>
            <pc:docMk/>
            <pc:sldMk cId="86913845" sldId="258"/>
            <ac:spMk id="2" creationId="{00000000-0000-0000-0000-000000000000}"/>
          </ac:spMkLst>
        </pc:spChg>
      </pc:sldChg>
      <pc:sldChg chg="del">
        <pc:chgData name="Fadi Safieddine" userId="S::fadi@uel.ac.uk::3c2eb6a4-db37-4d9f-9a07-5368a2a49ca2" providerId="AD" clId="Web-{9FA71D9E-B20D-BF54-9D3D-4E14A7387D75}" dt="2026-02-02T09:34:42.631" v="19"/>
        <pc:sldMkLst>
          <pc:docMk/>
          <pc:sldMk cId="895351668" sldId="259"/>
        </pc:sldMkLst>
      </pc:sldChg>
      <pc:sldChg chg="del">
        <pc:chgData name="Fadi Safieddine" userId="S::fadi@uel.ac.uk::3c2eb6a4-db37-4d9f-9a07-5368a2a49ca2" providerId="AD" clId="Web-{9FA71D9E-B20D-BF54-9D3D-4E14A7387D75}" dt="2026-02-02T09:34:44.287" v="20"/>
        <pc:sldMkLst>
          <pc:docMk/>
          <pc:sldMk cId="2004984325" sldId="260"/>
        </pc:sldMkLst>
      </pc:sldChg>
      <pc:sldChg chg="del">
        <pc:chgData name="Fadi Safieddine" userId="S::fadi@uel.ac.uk::3c2eb6a4-db37-4d9f-9a07-5368a2a49ca2" providerId="AD" clId="Web-{9FA71D9E-B20D-BF54-9D3D-4E14A7387D75}" dt="2026-02-02T09:34:45.459" v="21"/>
        <pc:sldMkLst>
          <pc:docMk/>
          <pc:sldMk cId="1214385185" sldId="261"/>
        </pc:sldMkLst>
      </pc:sldChg>
      <pc:sldChg chg="modSp">
        <pc:chgData name="Fadi Safieddine" userId="S::fadi@uel.ac.uk::3c2eb6a4-db37-4d9f-9a07-5368a2a49ca2" providerId="AD" clId="Web-{9FA71D9E-B20D-BF54-9D3D-4E14A7387D75}" dt="2026-02-02T09:35:43.587" v="81" actId="20577"/>
        <pc:sldMkLst>
          <pc:docMk/>
          <pc:sldMk cId="1921965900" sldId="263"/>
        </pc:sldMkLst>
        <pc:spChg chg="mod">
          <ac:chgData name="Fadi Safieddine" userId="S::fadi@uel.ac.uk::3c2eb6a4-db37-4d9f-9a07-5368a2a49ca2" providerId="AD" clId="Web-{9FA71D9E-B20D-BF54-9D3D-4E14A7387D75}" dt="2026-02-02T09:35:00.585" v="27" actId="20577"/>
          <ac:spMkLst>
            <pc:docMk/>
            <pc:sldMk cId="1921965900" sldId="263"/>
            <ac:spMk id="2" creationId="{00000000-0000-0000-0000-000000000000}"/>
          </ac:spMkLst>
        </pc:spChg>
        <pc:spChg chg="mod">
          <ac:chgData name="Fadi Safieddine" userId="S::fadi@uel.ac.uk::3c2eb6a4-db37-4d9f-9a07-5368a2a49ca2" providerId="AD" clId="Web-{9FA71D9E-B20D-BF54-9D3D-4E14A7387D75}" dt="2026-02-02T09:35:43.587" v="81" actId="20577"/>
          <ac:spMkLst>
            <pc:docMk/>
            <pc:sldMk cId="1921965900" sldId="263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EF76B9-E9FF-774A-9E46-0D0B90BADCBB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59FAF-E61A-7A48-A763-A09040C7C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24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59FAF-E61A-7A48-A763-A09040C7CE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76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e"/>
          <p:cNvSpPr/>
          <p:nvPr/>
        </p:nvSpPr>
        <p:spPr>
          <a:xfrm>
            <a:off x="533400" y="3340100"/>
            <a:ext cx="11126338" cy="9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14" name="Title Text"/>
          <p:cNvSpPr txBox="1">
            <a:spLocks noGrp="1"/>
          </p:cNvSpPr>
          <p:nvPr>
            <p:ph type="title"/>
          </p:nvPr>
        </p:nvSpPr>
        <p:spPr>
          <a:xfrm>
            <a:off x="533400" y="927100"/>
            <a:ext cx="11118850" cy="2235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33400" y="3524250"/>
            <a:ext cx="11118850" cy="7175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1800"/>
            </a:lvl1pPr>
            <a:lvl2pPr marL="0" indent="114300">
              <a:spcBef>
                <a:spcPts val="0"/>
              </a:spcBef>
              <a:buSzTx/>
              <a:buFontTx/>
              <a:buNone/>
              <a:defRPr sz="1800"/>
            </a:lvl2pPr>
            <a:lvl3pPr marL="0" indent="228600">
              <a:spcBef>
                <a:spcPts val="0"/>
              </a:spcBef>
              <a:buSzTx/>
              <a:buFontTx/>
              <a:buNone/>
              <a:defRPr sz="1800"/>
            </a:lvl3pPr>
            <a:lvl4pPr marL="0" indent="342900">
              <a:spcBef>
                <a:spcPts val="0"/>
              </a:spcBef>
              <a:buSzTx/>
              <a:buFontTx/>
              <a:buNone/>
              <a:defRPr sz="1800"/>
            </a:lvl4pPr>
            <a:lvl5pPr marL="0" indent="457200">
              <a:spcBef>
                <a:spcPts val="0"/>
              </a:spcBef>
              <a:buSzTx/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1CD0D5-FF76-481F-BEA3-056E909F54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211519"/>
      </p:ext>
    </p:extLst>
  </p:cSld>
  <p:clrMapOvr>
    <a:masterClrMapping/>
  </p:clrMapOvr>
  <p:transition spd="med"/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>
            <a:spLocks noGrp="1"/>
          </p:cNvSpPr>
          <p:nvPr>
            <p:ph type="title"/>
          </p:nvPr>
        </p:nvSpPr>
        <p:spPr>
          <a:xfrm>
            <a:off x="533400" y="2311400"/>
            <a:ext cx="11118850" cy="2235200"/>
          </a:xfrm>
          <a:prstGeom prst="rect">
            <a:avLst/>
          </a:prstGeom>
        </p:spPr>
        <p:txBody>
          <a:bodyPr anchor="ctr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D0CFCF-026F-41BD-877C-8716D3728C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277597"/>
      </p:ext>
    </p:extLst>
  </p:cSld>
  <p:clrMapOvr>
    <a:masterClrMapping/>
  </p:clrMapOvr>
  <p:transition spd="med"/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995240"/>
      </p:ext>
    </p:extLst>
  </p:cSld>
  <p:clrMapOvr>
    <a:masterClrMapping/>
  </p:clrMapOvr>
  <p:transition spd="med"/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6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0"/>
      </p:ext>
    </p:extLst>
  </p:cSld>
  <p:clrMapOvr>
    <a:masterClrMapping/>
  </p:clrMapOvr>
  <p:transition spd="med"/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Line"/>
          <p:cNvSpPr/>
          <p:nvPr/>
        </p:nvSpPr>
        <p:spPr>
          <a:xfrm>
            <a:off x="533400" y="1384300"/>
            <a:ext cx="4756306" cy="93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75" name="Image"/>
          <p:cNvSpPr>
            <a:spLocks noGrp="1"/>
          </p:cNvSpPr>
          <p:nvPr>
            <p:ph type="pic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76" name="Title Text"/>
          <p:cNvSpPr txBox="1">
            <a:spLocks noGrp="1"/>
          </p:cNvSpPr>
          <p:nvPr>
            <p:ph type="title"/>
          </p:nvPr>
        </p:nvSpPr>
        <p:spPr>
          <a:xfrm>
            <a:off x="533400" y="234950"/>
            <a:ext cx="4762500" cy="984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3400" y="1562100"/>
            <a:ext cx="4762500" cy="468630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2100"/>
              </a:spcBef>
              <a:defRPr sz="1800"/>
            </a:lvl1pPr>
            <a:lvl2pPr marL="457200" indent="-228600">
              <a:spcBef>
                <a:spcPts val="2100"/>
              </a:spcBef>
              <a:defRPr sz="1800"/>
            </a:lvl2pPr>
            <a:lvl3pPr marL="685800" indent="-228600">
              <a:spcBef>
                <a:spcPts val="2100"/>
              </a:spcBef>
              <a:defRPr sz="1800"/>
            </a:lvl3pPr>
            <a:lvl4pPr marL="914400" indent="-228600">
              <a:spcBef>
                <a:spcPts val="2100"/>
              </a:spcBef>
              <a:defRPr sz="1800"/>
            </a:lvl4pPr>
            <a:lvl5pPr marL="1143000" indent="-228600">
              <a:spcBef>
                <a:spcPts val="21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78822" y="6439108"/>
            <a:ext cx="243656" cy="241092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53E92E-F1D0-4772-B61D-A6CDF71DF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0" y="6234657"/>
            <a:ext cx="1371600" cy="60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181655"/>
      </p:ext>
    </p:extLst>
  </p:cSld>
  <p:clrMapOvr>
    <a:masterClrMapping/>
  </p:clrMapOvr>
  <p:transition spd="med"/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Body Level One…"/>
          <p:cNvSpPr txBox="1">
            <a:spLocks noGrp="1"/>
          </p:cNvSpPr>
          <p:nvPr>
            <p:ph type="body" idx="1"/>
          </p:nvPr>
        </p:nvSpPr>
        <p:spPr>
          <a:xfrm>
            <a:off x="831850" y="622300"/>
            <a:ext cx="10515600" cy="56007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D907DE-94A5-4512-A76B-5E0B9B1006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79209"/>
      </p:ext>
    </p:extLst>
  </p:cSld>
  <p:clrMapOvr>
    <a:masterClrMapping/>
  </p:clrMapOvr>
  <p:transition spd="med"/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Line"/>
          <p:cNvSpPr/>
          <p:nvPr/>
        </p:nvSpPr>
        <p:spPr>
          <a:xfrm flipH="1">
            <a:off x="7905870" y="355600"/>
            <a:ext cx="1" cy="5571803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96" name="Line"/>
          <p:cNvSpPr/>
          <p:nvPr/>
        </p:nvSpPr>
        <p:spPr>
          <a:xfrm>
            <a:off x="7905750" y="3138785"/>
            <a:ext cx="3881543" cy="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97" name="Image"/>
          <p:cNvSpPr>
            <a:spLocks noGrp="1"/>
          </p:cNvSpPr>
          <p:nvPr>
            <p:ph type="pic" sz="quarter" idx="13"/>
          </p:nvPr>
        </p:nvSpPr>
        <p:spPr>
          <a:xfrm>
            <a:off x="8007350" y="3251200"/>
            <a:ext cx="3784600" cy="26733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98" name="Image"/>
          <p:cNvSpPr>
            <a:spLocks noGrp="1"/>
          </p:cNvSpPr>
          <p:nvPr>
            <p:ph type="pic" sz="quarter" idx="14"/>
          </p:nvPr>
        </p:nvSpPr>
        <p:spPr>
          <a:xfrm>
            <a:off x="8007350" y="354603"/>
            <a:ext cx="3784600" cy="267335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99" name="Image"/>
          <p:cNvSpPr>
            <a:spLocks noGrp="1"/>
          </p:cNvSpPr>
          <p:nvPr>
            <p:ph type="pic" idx="15"/>
          </p:nvPr>
        </p:nvSpPr>
        <p:spPr>
          <a:xfrm>
            <a:off x="488950" y="356848"/>
            <a:ext cx="7289800" cy="556895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10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848784" y="6147797"/>
            <a:ext cx="7289801" cy="66040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1800"/>
            </a:lvl1pPr>
            <a:lvl2pPr marL="0" indent="114300">
              <a:spcBef>
                <a:spcPts val="0"/>
              </a:spcBef>
              <a:buSzTx/>
              <a:buFontTx/>
              <a:buNone/>
              <a:defRPr sz="1800"/>
            </a:lvl2pPr>
            <a:lvl3pPr marL="0" indent="228600">
              <a:spcBef>
                <a:spcPts val="0"/>
              </a:spcBef>
              <a:buSzTx/>
              <a:buFontTx/>
              <a:buNone/>
              <a:defRPr sz="1800"/>
            </a:lvl3pPr>
            <a:lvl4pPr marL="0" indent="342900">
              <a:spcBef>
                <a:spcPts val="0"/>
              </a:spcBef>
              <a:buSzTx/>
              <a:buFontTx/>
              <a:buNone/>
              <a:defRPr sz="1800"/>
            </a:lvl4pPr>
            <a:lvl5pPr marL="0" indent="457200">
              <a:spcBef>
                <a:spcPts val="0"/>
              </a:spcBef>
              <a:buSzTx/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C208C1-CF3A-43F1-B89E-1788143D5D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621575"/>
      </p:ext>
    </p:extLst>
  </p:cSld>
  <p:clrMapOvr>
    <a:masterClrMapping/>
  </p:clrMapOvr>
  <p:transition spd="med"/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1193800" y="4476750"/>
            <a:ext cx="9810750" cy="37959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defTabSz="323850">
              <a:spcBef>
                <a:spcPts val="0"/>
              </a:spcBef>
              <a:buSzTx/>
              <a:buFontTx/>
              <a:buNone/>
              <a:defRPr sz="18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" name="“Type a quote here.”"/>
          <p:cNvSpPr txBox="1">
            <a:spLocks noGrp="1"/>
          </p:cNvSpPr>
          <p:nvPr>
            <p:ph type="body" sz="quarter" idx="14"/>
          </p:nvPr>
        </p:nvSpPr>
        <p:spPr>
          <a:xfrm>
            <a:off x="1193800" y="3000336"/>
            <a:ext cx="9810750" cy="533479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 defTabSz="323850">
              <a:spcBef>
                <a:spcPts val="1700"/>
              </a:spcBef>
              <a:buSzTx/>
              <a:buFontTx/>
              <a:buNone/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FE6699-BDEF-4CA2-9B80-9B6702B0A2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99915"/>
      </p:ext>
    </p:extLst>
  </p:cSld>
  <p:clrMapOvr>
    <a:masterClrMapping/>
  </p:clrMapOvr>
  <p:transition spd="med"/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70675"/>
      </p:ext>
    </p:extLst>
  </p:cSld>
  <p:clrMapOvr>
    <a:masterClrMapping/>
  </p:clrMapOvr>
  <p:transition spd="med"/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58806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Line"/>
          <p:cNvSpPr/>
          <p:nvPr/>
        </p:nvSpPr>
        <p:spPr>
          <a:xfrm>
            <a:off x="533400" y="1384300"/>
            <a:ext cx="4756306" cy="93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135" name="Image"/>
          <p:cNvSpPr>
            <a:spLocks noGrp="1"/>
          </p:cNvSpPr>
          <p:nvPr>
            <p:ph type="pic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136" name="Title Text"/>
          <p:cNvSpPr txBox="1">
            <a:spLocks noGrp="1"/>
          </p:cNvSpPr>
          <p:nvPr>
            <p:ph type="title"/>
          </p:nvPr>
        </p:nvSpPr>
        <p:spPr>
          <a:xfrm>
            <a:off x="533400" y="234950"/>
            <a:ext cx="4762500" cy="984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3400" y="1562100"/>
            <a:ext cx="4762500" cy="468630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2100"/>
              </a:spcBef>
              <a:defRPr sz="1800"/>
            </a:lvl1pPr>
            <a:lvl2pPr marL="457200" indent="-228600">
              <a:spcBef>
                <a:spcPts val="2100"/>
              </a:spcBef>
              <a:defRPr sz="1800"/>
            </a:lvl2pPr>
            <a:lvl3pPr marL="685800" indent="-228600">
              <a:spcBef>
                <a:spcPts val="2100"/>
              </a:spcBef>
              <a:defRPr sz="1800"/>
            </a:lvl3pPr>
            <a:lvl4pPr marL="914400" indent="-228600">
              <a:spcBef>
                <a:spcPts val="2100"/>
              </a:spcBef>
              <a:defRPr sz="1800"/>
            </a:lvl4pPr>
            <a:lvl5pPr marL="1143000" indent="-228600">
              <a:spcBef>
                <a:spcPts val="21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81830" y="6463205"/>
            <a:ext cx="243656" cy="241092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FA9856-2535-4FBE-87B5-51B781F31E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994640"/>
      </p:ext>
    </p:extLst>
  </p:cSld>
  <p:clrMapOvr>
    <a:masterClrMapping/>
  </p:clrMapOvr>
  <p:transition spd="med"/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797495"/>
      </p:ext>
    </p:extLst>
  </p:cSld>
  <p:clrMapOvr>
    <a:masterClrMapping/>
  </p:clrMapOvr>
  <p:transition spd="med"/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Line"/>
          <p:cNvSpPr/>
          <p:nvPr/>
        </p:nvSpPr>
        <p:spPr>
          <a:xfrm>
            <a:off x="533400" y="1384300"/>
            <a:ext cx="4756306" cy="93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156" name="Image"/>
          <p:cNvSpPr>
            <a:spLocks noGrp="1"/>
          </p:cNvSpPr>
          <p:nvPr>
            <p:ph type="pic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157" name="Title Text"/>
          <p:cNvSpPr txBox="1">
            <a:spLocks noGrp="1"/>
          </p:cNvSpPr>
          <p:nvPr>
            <p:ph type="title"/>
          </p:nvPr>
        </p:nvSpPr>
        <p:spPr>
          <a:xfrm>
            <a:off x="533400" y="234950"/>
            <a:ext cx="4762500" cy="984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3400" y="1562100"/>
            <a:ext cx="4762500" cy="468630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2100"/>
              </a:spcBef>
              <a:defRPr sz="1800"/>
            </a:lvl1pPr>
            <a:lvl2pPr marL="457200" indent="-228600">
              <a:spcBef>
                <a:spcPts val="2100"/>
              </a:spcBef>
              <a:defRPr sz="1800"/>
            </a:lvl2pPr>
            <a:lvl3pPr marL="685800" indent="-228600">
              <a:spcBef>
                <a:spcPts val="2100"/>
              </a:spcBef>
              <a:defRPr sz="1800"/>
            </a:lvl3pPr>
            <a:lvl4pPr marL="914400" indent="-228600">
              <a:spcBef>
                <a:spcPts val="2100"/>
              </a:spcBef>
              <a:defRPr sz="1800"/>
            </a:lvl4pPr>
            <a:lvl5pPr marL="1143000" indent="-228600">
              <a:spcBef>
                <a:spcPts val="21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78822" y="6439108"/>
            <a:ext cx="243656" cy="241092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609348"/>
      </p:ext>
    </p:extLst>
  </p:cSld>
  <p:clrMapOvr>
    <a:masterClrMapping/>
  </p:clrMapOvr>
  <p:transition spd="med"/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67A28-D9CD-B14B-9065-E6FA59CC39B1}" type="datetime1">
              <a:rPr lang="en-GB" smtClean="0"/>
              <a:t>12/05/2026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1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"/>
          <p:cNvSpPr/>
          <p:nvPr/>
        </p:nvSpPr>
        <p:spPr>
          <a:xfrm>
            <a:off x="533400" y="1384300"/>
            <a:ext cx="11126349" cy="9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533400" y="234950"/>
            <a:ext cx="11118850" cy="984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533400" y="1562100"/>
            <a:ext cx="11118850" cy="468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48707" y="6439108"/>
            <a:ext cx="243656" cy="24109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>
              <a:defRPr sz="900"/>
            </a:lvl1pPr>
          </a:lstStyle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EB1488-890D-434D-890C-7C7C181637F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772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  <p:sldLayoutId id="2147483935" r:id="rId12"/>
    <p:sldLayoutId id="2147483936" r:id="rId13"/>
    <p:sldLayoutId id="2147483937" r:id="rId14"/>
  </p:sldLayoutIdLst>
  <p:transition spd="med"/>
  <p:hf hdr="0" ftr="0" dt="0"/>
  <p:txStyles>
    <p:titleStyle>
      <a:lvl1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1143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2286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3429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4572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5715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6858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8001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9144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17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1pPr>
      <a:lvl2pPr marL="635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2pPr>
      <a:lvl3pPr marL="952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3pPr>
      <a:lvl4pPr marL="1270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4pPr>
      <a:lvl5pPr marL="1587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5pPr>
      <a:lvl6pPr marL="1905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6pPr>
      <a:lvl7pPr marL="2222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7pPr>
      <a:lvl8pPr marL="2540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8pPr>
      <a:lvl9pPr marL="2857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1143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2286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3429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4572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5715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6858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8001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9144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b="1" dirty="0">
                <a:solidFill>
                  <a:srgbClr val="0070C0"/>
                </a:solidFill>
              </a:rPr>
              <a:t>Viva:</a:t>
            </a:r>
            <a:r>
              <a:rPr lang="en-US" sz="4800" b="1" dirty="0">
                <a:solidFill>
                  <a:srgbClr val="0070C0"/>
                </a:solidFill>
              </a:rPr>
              <a:t> </a:t>
            </a:r>
            <a:r>
              <a:rPr lang="en-US" sz="4800" b="1" dirty="0" err="1"/>
              <a:t>CyberLure</a:t>
            </a:r>
            <a:r>
              <a:rPr lang="en-US" sz="4800" b="1" dirty="0"/>
              <a:t> – AI-Enabled Honeypot for Cybersecurity Training</a:t>
            </a:r>
            <a:endParaRPr sz="4800" b="1" dirty="0"/>
          </a:p>
        </p:txBody>
      </p:sp>
      <p:sp>
        <p:nvSpPr>
          <p:cNvPr id="3" name="Subtitle 2"/>
          <p:cNvSpPr>
            <a:spLocks noGrp="1"/>
          </p:cNvSpPr>
          <p:nvPr>
            <p:ph type="body" sz="quarter" idx="1"/>
          </p:nvPr>
        </p:nvSpPr>
        <p:spPr>
          <a:xfrm>
            <a:off x="533400" y="3524249"/>
            <a:ext cx="11508346" cy="1672375"/>
          </a:xfrm>
        </p:spPr>
        <p:txBody>
          <a:bodyPr>
            <a:normAutofit/>
          </a:bodyPr>
          <a:lstStyle/>
          <a:p>
            <a:r>
              <a:rPr sz="2400" dirty="0"/>
              <a:t>Abdul Ahad</a:t>
            </a:r>
          </a:p>
          <a:p>
            <a:r>
              <a:rPr sz="2400" dirty="0"/>
              <a:t>2537327</a:t>
            </a:r>
          </a:p>
          <a:p>
            <a:endParaRPr sz="2400" dirty="0"/>
          </a:p>
          <a:p>
            <a:r>
              <a:rPr sz="2400" dirty="0"/>
              <a:t>Shehzad Memon</a:t>
            </a:r>
          </a:p>
        </p:txBody>
      </p:sp>
    </p:spTree>
    <p:extLst>
      <p:ext uri="{BB962C8B-B14F-4D97-AF65-F5344CB8AC3E}">
        <p14:creationId xmlns:p14="http://schemas.microsoft.com/office/powerpoint/2010/main" val="39862785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Project Aims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62100"/>
            <a:ext cx="11118850" cy="4533900"/>
          </a:xfrm>
        </p:spPr>
        <p:txBody>
          <a:bodyPr/>
          <a:lstStyle/>
          <a:p>
            <a:r>
              <a:rPr dirty="0"/>
              <a:t>Cybersecurity training lacks accessible hands-on exposure to real attack data</a:t>
            </a:r>
            <a:endParaRPr lang="en-GB" dirty="0"/>
          </a:p>
          <a:p>
            <a:r>
              <a:rPr lang="en-US" dirty="0"/>
              <a:t>Honeypot tools like Cowrie generate rich logs — but raw JSON is uninterpretable without specialist knowledge </a:t>
            </a:r>
          </a:p>
          <a:p>
            <a:r>
              <a:rPr lang="en-US" dirty="0"/>
              <a:t>No existing literature on accessible, AI-enhanced honeypot systems specifically designed for undergraduate education </a:t>
            </a:r>
          </a:p>
          <a:p>
            <a:r>
              <a:rPr lang="en-US" dirty="0"/>
              <a:t>This project fills that gap: an integrated honeypot + ML + dashboard system built for learners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25651" y="6439108"/>
            <a:ext cx="166712" cy="241092"/>
          </a:xfrm>
        </p:spPr>
        <p:txBody>
          <a:bodyPr/>
          <a:lstStyle/>
          <a:p>
            <a:r>
              <a:rPr lang="en-GB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14669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62100"/>
            <a:ext cx="11118850" cy="459289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Research honeypot architectures (low/medium/high interaction) and relevant ML techniques </a:t>
            </a:r>
          </a:p>
          <a:p>
            <a:r>
              <a:rPr lang="en-US" dirty="0"/>
              <a:t>Deploy a controlled Cowrie SSH honeypot environment, automated via Ansible </a:t>
            </a:r>
          </a:p>
          <a:p>
            <a:r>
              <a:rPr lang="en-US" dirty="0"/>
              <a:t>Automate deployment and logging using Ansible playbooks and shell scripting </a:t>
            </a:r>
          </a:p>
          <a:p>
            <a:r>
              <a:rPr lang="en-US" dirty="0"/>
              <a:t>Collect, preprocess, and extract 17 </a:t>
            </a:r>
            <a:r>
              <a:rPr lang="en-US" dirty="0" err="1"/>
              <a:t>behavioural</a:t>
            </a:r>
            <a:r>
              <a:rPr lang="en-US" dirty="0"/>
              <a:t> features from honeypot logs </a:t>
            </a:r>
          </a:p>
          <a:p>
            <a:r>
              <a:rPr lang="en-US" dirty="0"/>
              <a:t>Develop and evaluate ML models: </a:t>
            </a:r>
            <a:r>
              <a:rPr lang="en-US" dirty="0" err="1"/>
              <a:t>KMeans</a:t>
            </a:r>
            <a:r>
              <a:rPr lang="en-US" dirty="0"/>
              <a:t> clustering + Random Forest classification </a:t>
            </a:r>
          </a:p>
          <a:p>
            <a:r>
              <a:rPr lang="en-US" dirty="0"/>
              <a:t>Build an interactive </a:t>
            </a:r>
            <a:r>
              <a:rPr lang="en-US" dirty="0" err="1"/>
              <a:t>Streamlit</a:t>
            </a:r>
            <a:r>
              <a:rPr lang="en-US" dirty="0"/>
              <a:t> dashboard and assess its educational value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25651" y="6439108"/>
            <a:ext cx="166712" cy="241092"/>
          </a:xfrm>
        </p:spPr>
        <p:txBody>
          <a:bodyPr/>
          <a:lstStyle/>
          <a:p>
            <a:r>
              <a:rPr lang="en-GB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86993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62100"/>
            <a:ext cx="11118850" cy="45339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HONEYPOTS — Spitzner (2003): low/medium/high-interaction types; Cowrie captures SSH commands and credentials in JSONL format; valuable for education (Almeshekah &amp; Spafford, 2016)</a:t>
            </a:r>
          </a:p>
          <a:p>
            <a:r>
              <a:rPr lang="en-US" dirty="0"/>
              <a:t>ML FOR INTRUSION DETECTION — KMeans/DBSCAN for unsupervised clustering (Liao et al., 2013); Random Forest/SVM for classification (Ambusaidi et al., 2016); ML applied to honeypot data (Sarker et al., 2020)</a:t>
            </a:r>
          </a:p>
          <a:p>
            <a:r>
              <a:rPr lang="en-US" dirty="0"/>
              <a:t>CYBERSECURITY TRAINING — Hands-on learning essential (ENISA, 2020; Vykopal et al., 2021); dashboards improve comprehension (Damarevicius &amp; Toldinas, 2020)</a:t>
            </a:r>
          </a:p>
          <a:p>
            <a:r>
              <a:rPr lang="en-US" dirty="0"/>
              <a:t>GAPS IDENTIFIED:</a:t>
            </a:r>
          </a:p>
          <a:p>
            <a:r>
              <a:rPr lang="en-US" dirty="0"/>
              <a:t>   No accessible, AI-enhanced honeypot system designed for undergraduate education</a:t>
            </a:r>
          </a:p>
          <a:p>
            <a:r>
              <a:rPr lang="en-US" dirty="0"/>
              <a:t>   Existing ML+honeypot systems too complex for beginners</a:t>
            </a:r>
          </a:p>
          <a:p>
            <a:r>
              <a:rPr lang="en-US" dirty="0"/>
              <a:t>   No integrated: honeypot + ML + visual dashboard in one tool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25651" y="6439108"/>
            <a:ext cx="166712" cy="241092"/>
          </a:xfrm>
        </p:spPr>
        <p:txBody>
          <a:bodyPr/>
          <a:lstStyle/>
          <a:p>
            <a:r>
              <a:rPr lang="en-GB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62100"/>
            <a:ext cx="11118850" cy="4533900"/>
          </a:xfrm>
        </p:spPr>
        <p:txBody>
          <a:bodyPr>
            <a:normAutofit/>
          </a:bodyPr>
          <a:lstStyle>
            <a:lvl1pPr>
              <a:lnSpc>
                <a:spcPts val="1400"/>
              </a:lnSpc>
              <a:spcBef>
                <a:spcPts val="0"/>
              </a:spcBef>
            </a:lvl1pPr>
          </a:lstStyle>
          <a:p>
            <a:pPr marL="317500" marR="0" lvl="0" indent="-317500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747474"/>
                </a:solidFill>
                <a:effectLst/>
                <a:uLnTx/>
                <a:uFillTx/>
                <a:latin typeface="Helvetica Neue"/>
                <a:sym typeface="Helvetica Neue"/>
              </a:rPr>
              <a:t>APPROACH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747474"/>
                </a:solidFill>
                <a:effectLst/>
                <a:uLnTx/>
                <a:uFillTx/>
                <a:latin typeface="Helvetica Neue"/>
                <a:sym typeface="Helvetica Neue"/>
              </a:rPr>
              <a:t> — Iterative RAD/Agile: 5 phases, each tested independently</a:t>
            </a:r>
          </a:p>
          <a:p>
            <a:pPr marL="317500" marR="0" lvl="0" indent="-317500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747474"/>
                </a:solidFill>
                <a:effectLst/>
                <a:uLnTx/>
                <a:uFillTx/>
                <a:latin typeface="Helvetica Neue"/>
                <a:sym typeface="Helvetica Neue"/>
              </a:rPr>
              <a:t>SYSTEM ARCHITECTURE (5 layers):</a:t>
            </a:r>
          </a:p>
          <a:p>
            <a:pPr marL="317500" marR="0" lvl="0" indent="-317500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47474"/>
                </a:solidFill>
                <a:effectLst/>
                <a:uLnTx/>
                <a:uFillTx/>
                <a:latin typeface="Helvetica Neue"/>
                <a:sym typeface="Helvetica Neue"/>
              </a:rPr>
              <a:t>Layer 1 — Honeypot: Cowrie SSH on port 22, logs to JSONL</a:t>
            </a:r>
          </a:p>
          <a:p>
            <a:pPr marL="317500" marR="0" lvl="0" indent="-317500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47474"/>
                </a:solidFill>
                <a:effectLst/>
                <a:uLnTx/>
                <a:uFillTx/>
                <a:latin typeface="Helvetica Neue"/>
                <a:sym typeface="Helvetica Neue"/>
              </a:rPr>
              <a:t>Layer 2 — Data Generation: 500 synthetic sessions / 3,400 events</a:t>
            </a:r>
          </a:p>
          <a:p>
            <a:pPr marL="317500" marR="0" lvl="0" indent="-317500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47474"/>
                </a:solidFill>
                <a:effectLst/>
                <a:uLnTx/>
                <a:uFillTx/>
                <a:latin typeface="Helvetica Neue"/>
                <a:sym typeface="Helvetica Neue"/>
              </a:rPr>
              <a:t>Layer 3 — Feature Extraction: Python parser, 17 per-session features</a:t>
            </a:r>
          </a:p>
          <a:p>
            <a:pPr marL="317500" marR="0" lvl="0" indent="-317500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47474"/>
                </a:solidFill>
                <a:effectLst/>
                <a:uLnTx/>
                <a:uFillTx/>
                <a:latin typeface="Helvetica Neue"/>
                <a:sym typeface="Helvetica Neue"/>
              </a:rPr>
              <a:t>Layer 4 — ML: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747474"/>
                </a:solidFill>
                <a:effectLst/>
                <a:uLnTx/>
                <a:uFillTx/>
                <a:latin typeface="Helvetica Neue"/>
                <a:sym typeface="Helvetica Neue"/>
              </a:rPr>
              <a:t>KMeans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47474"/>
                </a:solidFill>
                <a:effectLst/>
                <a:uLnTx/>
                <a:uFillTx/>
                <a:latin typeface="Helvetica Neue"/>
                <a:sym typeface="Helvetica Neue"/>
              </a:rPr>
              <a:t> clustering (k=6) + Random Forest (200 trees)</a:t>
            </a:r>
          </a:p>
          <a:p>
            <a:pPr marL="317500" marR="0" lvl="0" indent="-317500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47474"/>
                </a:solidFill>
                <a:effectLst/>
                <a:uLnTx/>
                <a:uFillTx/>
                <a:latin typeface="Helvetica Neue"/>
                <a:sym typeface="Helvetica Neue"/>
              </a:rPr>
              <a:t>Layer 5 — Presentation: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747474"/>
                </a:solidFill>
                <a:effectLst/>
                <a:uLnTx/>
                <a:uFillTx/>
                <a:latin typeface="Helvetica Neue"/>
                <a:sym typeface="Helvetica Neue"/>
              </a:rPr>
              <a:t>Streamlit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47474"/>
                </a:solidFill>
                <a:effectLst/>
                <a:uLnTx/>
                <a:uFillTx/>
                <a:latin typeface="Helvetica Neue"/>
                <a:sym typeface="Helvetica Neue"/>
              </a:rPr>
              <a:t> dashboard, 9 interactive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747474"/>
                </a:solidFill>
                <a:effectLst/>
                <a:uLnTx/>
                <a:uFillTx/>
                <a:latin typeface="Helvetica Neue"/>
                <a:sym typeface="Helvetica Neue"/>
              </a:rPr>
              <a:t>visualisations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747474"/>
              </a:solidFill>
              <a:effectLst/>
              <a:uLnTx/>
              <a:uFillTx/>
              <a:latin typeface="Helvetica Neue"/>
              <a:sym typeface="Helvetica Neue"/>
            </a:endParaRPr>
          </a:p>
          <a:p>
            <a:pPr marL="317500" marR="0" lvl="0" indent="-317500" algn="l" defTabSz="412750" rtl="0" eaLnBrk="1" fontAlgn="auto" latinLnBrk="0" hangingPunct="1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747474"/>
                </a:solidFill>
                <a:effectLst/>
                <a:uLnTx/>
                <a:uFillTx/>
                <a:latin typeface="Helvetica Neue"/>
                <a:sym typeface="Helvetica Neue"/>
              </a:rPr>
              <a:t>KEY TOOLS: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47474"/>
                </a:solidFill>
                <a:effectLst/>
                <a:uLnTx/>
                <a:uFillTx/>
                <a:latin typeface="Helvetica Neue"/>
                <a:sym typeface="Helvetica Neue"/>
              </a:rPr>
              <a:t> Cowrie | Ansible | Python |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747474"/>
                </a:solidFill>
                <a:effectLst/>
                <a:uLnTx/>
                <a:uFillTx/>
                <a:latin typeface="Helvetica Neue"/>
                <a:sym typeface="Helvetica Neue"/>
              </a:rPr>
              <a:t>Streamlit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747474"/>
              </a:solidFill>
              <a:effectLst/>
              <a:uLnTx/>
              <a:uFillTx/>
              <a:latin typeface="Helvetica Neue"/>
              <a:sym typeface="Helvetica Neue"/>
            </a:endParaRPr>
          </a:p>
          <a:p>
            <a:pPr marL="0" indent="0">
              <a:buNone/>
            </a:pPr>
            <a:endParaRPr lang="en-US" sz="2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25651" y="6439108"/>
            <a:ext cx="166712" cy="241092"/>
          </a:xfrm>
        </p:spPr>
        <p:txBody>
          <a:bodyPr/>
          <a:lstStyle/>
          <a:p>
            <a:r>
              <a:rPr lang="en-GB" dirty="0"/>
              <a:t>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DCDDC5-642B-C6DF-130A-AC2690AB80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942" y="1562100"/>
            <a:ext cx="3087657" cy="46323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 of the work achieved: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62099"/>
            <a:ext cx="11118850" cy="464205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Cowrie SSH honeypot fully configured and automated via an Ansible playbook </a:t>
            </a:r>
          </a:p>
          <a:p>
            <a:r>
              <a:rPr lang="en-US" dirty="0"/>
              <a:t>Synthetic log generator producing 500 sessions / 3,400 events in authentic Cowrie JSON format </a:t>
            </a:r>
          </a:p>
          <a:p>
            <a:r>
              <a:rPr lang="en-US" dirty="0"/>
              <a:t>Python feature extraction pipeline: 17 per-session </a:t>
            </a:r>
            <a:r>
              <a:rPr lang="en-US" dirty="0" err="1"/>
              <a:t>behavioural</a:t>
            </a:r>
            <a:r>
              <a:rPr lang="en-US" dirty="0"/>
              <a:t> features </a:t>
            </a:r>
          </a:p>
          <a:p>
            <a:r>
              <a:rPr lang="en-US" dirty="0" err="1"/>
              <a:t>KMeans</a:t>
            </a:r>
            <a:r>
              <a:rPr lang="en-US" dirty="0"/>
              <a:t> clustering (k=6) — silhouette score 0.4958 — six attack </a:t>
            </a:r>
            <a:r>
              <a:rPr lang="en-US" dirty="0" err="1"/>
              <a:t>behaviour</a:t>
            </a:r>
            <a:r>
              <a:rPr lang="en-US" dirty="0"/>
              <a:t> categories identified </a:t>
            </a:r>
          </a:p>
          <a:p>
            <a:r>
              <a:rPr lang="en-US" dirty="0"/>
              <a:t>Random Forest classifier — 100% accuracy on synthetic test set </a:t>
            </a:r>
          </a:p>
          <a:p>
            <a:r>
              <a:rPr lang="en-US" dirty="0" err="1"/>
              <a:t>Streamlit</a:t>
            </a:r>
            <a:r>
              <a:rPr lang="en-US" dirty="0"/>
              <a:t> dashboard (</a:t>
            </a:r>
            <a:r>
              <a:rPr lang="en-US" dirty="0" err="1"/>
              <a:t>CyberLure</a:t>
            </a:r>
            <a:r>
              <a:rPr lang="en-US" dirty="0"/>
              <a:t>) with 9 interactive </a:t>
            </a:r>
            <a:r>
              <a:rPr lang="en-US" dirty="0" err="1"/>
              <a:t>visualisations</a:t>
            </a:r>
            <a:r>
              <a:rPr lang="en-US" dirty="0"/>
              <a:t>, sidebar filters, and </a:t>
            </a:r>
            <a:r>
              <a:rPr lang="en-US" dirty="0" err="1"/>
              <a:t>colour</a:t>
            </a:r>
            <a:r>
              <a:rPr lang="en-US" dirty="0"/>
              <a:t>-coded session log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25651" y="6439108"/>
            <a:ext cx="166712" cy="241092"/>
          </a:xfrm>
        </p:spPr>
        <p:txBody>
          <a:bodyPr/>
          <a:lstStyle/>
          <a:p>
            <a:r>
              <a:rPr lang="en-GB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6913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 of the demo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62100"/>
            <a:ext cx="11118850" cy="4533900"/>
          </a:xfrm>
        </p:spPr>
        <p:txBody>
          <a:bodyPr lIns="50800" tIns="50800" rIns="50800" bIns="50800" anchor="t">
            <a:normAutofit fontScale="92500" lnSpcReduction="20000"/>
          </a:bodyPr>
          <a:lstStyle/>
          <a:p>
            <a:r>
              <a:rPr lang="en-US" dirty="0"/>
              <a:t>Share screen to show the </a:t>
            </a:r>
            <a:r>
              <a:rPr lang="en-US" dirty="0" err="1"/>
              <a:t>CyberLure</a:t>
            </a:r>
            <a:r>
              <a:rPr lang="en-US" dirty="0"/>
              <a:t> </a:t>
            </a:r>
            <a:r>
              <a:rPr lang="en-US" dirty="0" err="1"/>
              <a:t>Streamlit</a:t>
            </a:r>
            <a:r>
              <a:rPr lang="en-US" dirty="0"/>
              <a:t> dashboard </a:t>
            </a:r>
          </a:p>
          <a:p>
            <a:r>
              <a:rPr lang="en-US" dirty="0"/>
              <a:t>Walk through: KPI metric cards, attack type distribution, top attacking countries, attack timeline </a:t>
            </a:r>
          </a:p>
          <a:p>
            <a:r>
              <a:rPr lang="en-US" dirty="0"/>
              <a:t>Highlight: </a:t>
            </a:r>
            <a:r>
              <a:rPr lang="en-US" dirty="0" err="1"/>
              <a:t>behaviour</a:t>
            </a:r>
            <a:r>
              <a:rPr lang="en-US" dirty="0"/>
              <a:t> score heatmap — shows how ML differentiates attack types visually </a:t>
            </a:r>
          </a:p>
          <a:p>
            <a:r>
              <a:rPr lang="en-US" dirty="0"/>
              <a:t>Show: </a:t>
            </a:r>
            <a:r>
              <a:rPr lang="en-US" dirty="0" err="1"/>
              <a:t>colour</a:t>
            </a:r>
            <a:r>
              <a:rPr lang="en-US" dirty="0"/>
              <a:t>-coded session log — </a:t>
            </a:r>
            <a:r>
              <a:rPr lang="en-US" dirty="0" err="1"/>
              <a:t>Cryptominer</a:t>
            </a:r>
            <a:r>
              <a:rPr lang="en-US" dirty="0"/>
              <a:t> (amber), Lateral Movement (orange) </a:t>
            </a:r>
          </a:p>
          <a:p>
            <a:r>
              <a:rPr lang="en-US" dirty="0"/>
              <a:t>Demonstrate sidebar filters: filter by attack type, country, login attempts </a:t>
            </a:r>
          </a:p>
          <a:p>
            <a:r>
              <a:rPr lang="en-US" dirty="0"/>
              <a:t>Discuss: what is working, what still needs development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25651" y="6439108"/>
            <a:ext cx="166712" cy="241092"/>
          </a:xfrm>
        </p:spPr>
        <p:txBody>
          <a:bodyPr/>
          <a:lstStyle/>
          <a:p>
            <a:r>
              <a:rPr lang="en-GB" dirty="0"/>
              <a:t>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1965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62100"/>
            <a:ext cx="11118850" cy="459289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Spitzner, L. (2003) Definitions and value of honeypots. </a:t>
            </a:r>
          </a:p>
          <a:p>
            <a:r>
              <a:rPr lang="en-US" dirty="0"/>
              <a:t>Cowrie Project (2016) Cowrie SSH/Telnet honeypot. GitHub. </a:t>
            </a:r>
          </a:p>
          <a:p>
            <a:r>
              <a:rPr lang="en-US" dirty="0"/>
              <a:t>Sarker, I.H. et al. (2020) Cybersecurity data science. Journal of Big Data, 7(1). </a:t>
            </a:r>
          </a:p>
          <a:p>
            <a:r>
              <a:rPr lang="en-US" dirty="0" err="1"/>
              <a:t>Vykopal</a:t>
            </a:r>
            <a:r>
              <a:rPr lang="en-US" dirty="0"/>
              <a:t>, J. et al. (2021) Scalable learning environments. IEEE FIE 2021. </a:t>
            </a:r>
          </a:p>
          <a:p>
            <a:r>
              <a:rPr lang="en-US" dirty="0"/>
              <a:t>ENISA (2020) Cybersecurity skills framework. </a:t>
            </a:r>
          </a:p>
          <a:p>
            <a:r>
              <a:rPr lang="en-US" dirty="0"/>
              <a:t>Kreibich, C. &amp; Crowcroft, J. (2004) Honeycomb. ACM SIGCOMM, 34(1). </a:t>
            </a:r>
          </a:p>
          <a:p>
            <a:r>
              <a:rPr lang="en-US" dirty="0"/>
              <a:t>Full reference list in dissertation pp. 26–27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414255"/>
      </p:ext>
    </p:extLst>
  </p:cSld>
  <p:clrMapOvr>
    <a:masterClrMapping/>
  </p:clrMapOvr>
</p:sld>
</file>

<file path=ppt/theme/theme1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Welcoming Message CN6103</Template>
  <TotalTime>83</TotalTime>
  <Words>661</Words>
  <Application>Microsoft Office PowerPoint</Application>
  <PresentationFormat>Widescreen</PresentationFormat>
  <Paragraphs>64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Helvetica Neue</vt:lpstr>
      <vt:lpstr>ModernPortfolio</vt:lpstr>
      <vt:lpstr>Viva: CyberLure – AI-Enabled Honeypot for Cybersecurity Training</vt:lpstr>
      <vt:lpstr>Project Aims</vt:lpstr>
      <vt:lpstr>Project Objectives</vt:lpstr>
      <vt:lpstr>Literature Review</vt:lpstr>
      <vt:lpstr>Methodology</vt:lpstr>
      <vt:lpstr>Summary of the work achieved:</vt:lpstr>
      <vt:lpstr>Outline of the demo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Usman Naeem</dc:creator>
  <cp:lastModifiedBy>Abdul AHAD</cp:lastModifiedBy>
  <cp:revision>19</cp:revision>
  <dcterms:created xsi:type="dcterms:W3CDTF">2015-11-09T21:30:07Z</dcterms:created>
  <dcterms:modified xsi:type="dcterms:W3CDTF">2026-05-12T08:13:41Z</dcterms:modified>
</cp:coreProperties>
</file>